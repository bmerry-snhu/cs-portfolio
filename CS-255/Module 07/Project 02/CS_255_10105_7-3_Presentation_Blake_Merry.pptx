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theme/theme11.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58" r:id="rId7"/>
    <p:sldMasterId id="2147483659" r:id="rId8"/>
    <p:sldMasterId id="2147483660" r:id="rId9"/>
    <p:sldMasterId id="2147483661" r:id="rId10"/>
    <p:sldMasterId id="2147483662" r:id="rId11"/>
    <p:sldMasterId id="2147483663" r:id="rId12"/>
  </p:sldMasterIdLst>
  <p:notesMasterIdLst>
    <p:notesMasterId r:id="rId13"/>
  </p:notesMasterIdLst>
  <p:sldIdLst>
    <p:sldId id="256" r:id="rId14"/>
    <p:sldId id="257" r:id="rId15"/>
    <p:sldId id="258" r:id="rId16"/>
    <p:sldId id="259" r:id="rId17"/>
    <p:sldId id="260" r:id="rId18"/>
    <p:sldId id="261" r:id="rId19"/>
    <p:sldId id="262" r:id="rId20"/>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914400">
              <a:lnSpc>
                <a:spcPct val="90000"/>
              </a:lnSpc>
            </a:pPr>
            <a:r>
              <a:rPr lang="en-US" sz="6000" b="0" u="none" strike="noStrike">
                <a:solidFill>
                  <a:schemeClr val="dk1"/>
                </a:solidFill>
                <a:effectLst/>
                <a:uFillTx/>
                <a:latin typeface="Calibri Light"/>
              </a:rPr>
              <a:t>Click to move the slide</a:t>
            </a:r>
            <a:endParaRPr lang="en-US" sz="6000" b="0" u="none" strike="noStrike">
              <a:solidFill>
                <a:schemeClr val="dk1"/>
              </a:solidFill>
              <a:effectLst/>
              <a:uFillTx/>
              <a:latin typeface="Calibri Light"/>
            </a:endParaRPr>
          </a:p>
        </p:txBody>
      </p:sp>
      <p:sp>
        <p:nvSpPr>
          <p:cNvPr id="7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7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3"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4"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5"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11676E2-89A3-4F3C-9390-DD508D06E5E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6040" cy="3085920"/>
          </a:xfrm>
          <a:prstGeom prst="rect">
            <a:avLst/>
          </a:prstGeom>
          <a:ln w="0">
            <a:noFill/>
          </a:ln>
        </p:spPr>
      </p:sp>
      <p:sp>
        <p:nvSpPr>
          <p:cNvPr id="1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 speaker notes required for this slide.]</a:t>
            </a:r>
            <a:endParaRPr lang="en-US" sz="2000" b="0" u="none" strike="noStrike">
              <a:solidFill>
                <a:srgbClr val="000000"/>
              </a:solidFill>
              <a:effectLst/>
              <a:uFillTx/>
              <a:latin typeface="Arial"/>
            </a:endParaRPr>
          </a:p>
        </p:txBody>
      </p:sp>
      <p:sp>
        <p:nvSpPr>
          <p:cNvPr id="112"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20AC31-3FA0-4E97-8CCE-A0B06BF66DE6}"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685800" y="1143000"/>
            <a:ext cx="5486040" cy="3085920"/>
          </a:xfrm>
          <a:prstGeom prst="rect">
            <a:avLst/>
          </a:prstGeom>
          <a:ln w="0">
            <a:noFill/>
          </a:ln>
        </p:spPr>
      </p:sp>
      <p:sp>
        <p:nvSpPr>
          <p:cNvPr id="1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functional requirements describe what DriverPass needs the system to actually do. One of the main priorities is appointment scheduling. Customers should be able to schedule, modify, or cancel driving lessons online, while the secretary can assist customers who call or visit the office. The system will also check instructor and vehicle availability before confirming appointments to help prevent scheduling conflicts.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Another important function is providing access to training materials and practice exams based on the customer's selected package. The system will track their progress so they can see how they're performing. On the business side, employees will have tools to manage customer information and training packages, while the owner can generate reports to monitor operations. Together, these features support both the customer experience and the day-to-day management of DriverPass.</a:t>
            </a:r>
            <a:endParaRPr lang="en-US" sz="2000" b="0" u="none" strike="noStrike">
              <a:solidFill>
                <a:srgbClr val="000000"/>
              </a:solidFill>
              <a:effectLst/>
              <a:uFillTx/>
              <a:latin typeface="Arial"/>
            </a:endParaRPr>
          </a:p>
        </p:txBody>
      </p:sp>
      <p:sp>
        <p:nvSpPr>
          <p:cNvPr id="115"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6DBF34-A424-45F4-80E8-745D55A411C3}"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6040" cy="3085920"/>
          </a:xfrm>
          <a:prstGeom prst="rect">
            <a:avLst/>
          </a:prstGeom>
          <a:ln w="0">
            <a:noFill/>
          </a:ln>
        </p:spPr>
      </p:sp>
      <p:sp>
        <p:nvSpPr>
          <p:cNvPr id="1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While functional requirements describe what the system does, nonfunctional requirements focus on how it should operate. DriverPass wants customers and employees to access the system from different locations and devices, so we're proposing a web-based platform that works through standard browsers without requiring separate applications.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Security and reliability are also important considerations. Each user will have access appropriate to their responsibilities, helping protect customer information and prevent unauthorized changes. We're also recommending cloud hosting so DriverPass won't need to maintain its own servers and backup infrastructure.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Finally, the system will keep its records in one central location. Users will need an internet connection to make changes, which helps prevent conflicting information, but authorized employees can still download reports for offline review. These requirements help ensure the system remains accessible, dependable, and practical for DriverPass to maintain.</a:t>
            </a:r>
            <a:endParaRPr lang="en-US" sz="2000" b="0" u="none" strike="noStrike">
              <a:solidFill>
                <a:srgbClr val="000000"/>
              </a:solidFill>
              <a:effectLst/>
              <a:uFillTx/>
              <a:latin typeface="Arial"/>
            </a:endParaRPr>
          </a:p>
        </p:txBody>
      </p:sp>
      <p:sp>
        <p:nvSpPr>
          <p:cNvPr id="118"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572697-81E7-4C23-83D5-C42EA7CA7310}"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6040" cy="3085920"/>
          </a:xfrm>
          <a:prstGeom prst="rect">
            <a:avLst/>
          </a:prstGeom>
          <a:ln w="0">
            <a:noFill/>
          </a:ln>
        </p:spPr>
      </p:sp>
      <p:sp>
        <p:nvSpPr>
          <p:cNvPr id="1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diagram provides an overview of the different people who will interact with DriverPass and what they'll be able to accomplish through the system.</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Customers can choose training packages, manage driving appointments, access online course materials and practice tests when their package includes them, and review their test results. The secretary can register or update customer information, manage appointments, and review or change driver and vehicle assignments when necessary.</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Driving instructors can view their assigned lessons and record information such as lesson times and notes. The IT administrator will manage user accounts and access, while the business owner can review reports and enable or disable training packages. The system will also receive updated rules and practice questions from the DMV.</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By separating these responsibilities, the design gives everyone the tools they need without providing unnecessary access to unrelated parts of the business.</a:t>
            </a:r>
            <a:endParaRPr lang="en-US" sz="2000" b="0" u="none" strike="noStrike">
              <a:solidFill>
                <a:srgbClr val="000000"/>
              </a:solidFill>
              <a:effectLst/>
              <a:uFillTx/>
              <a:latin typeface="Arial"/>
            </a:endParaRPr>
          </a:p>
        </p:txBody>
      </p:sp>
      <p:sp>
        <p:nvSpPr>
          <p:cNvPr id="121"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611ABB-5A9E-4088-87F6-501287282C8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685800" y="1143000"/>
            <a:ext cx="5486040" cy="3085920"/>
          </a:xfrm>
          <a:prstGeom prst="rect">
            <a:avLst/>
          </a:prstGeom>
          <a:ln w="0">
            <a:noFill/>
          </a:ln>
        </p:spPr>
      </p:sp>
      <p:sp>
        <p:nvSpPr>
          <p:cNvPr id="1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n-US" sz="2000" b="0" u="none" strike="noStrike">
                <a:solidFill>
                  <a:srgbClr val="000000"/>
                </a:solidFill>
                <a:effectLst/>
                <a:uFillTx/>
                <a:latin typeface="Arial"/>
              </a:rPr>
              <a:t>This diagram walks through the process of scheduling a new driving appointment, from the customer's initial request through confirmation.</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The system first checks the customer's training package to make sure they have enough driving hours remaining for a two-hour lesson. Once their eligibility is confirmed, the customer selects a preferred date and time. The system checks whether an instructor and vehicle are available and automatically assigns them to the appointment.</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If the requested time isn't available, the customer can choose another time or cancel the request. If an appointment is available, the system displays the details and asks the customer to confirm.</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Before saving the reservation, the system checks availability again to make sure another customer hasn't already booked those resources. Once the reservation is saved, the system records who created it and when, then displays a confirmation. This process allows customers to schedule their own lessons while helping DriverPass avoid double-booking instructors or vehicles.</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124"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88CD2F-A84D-4BCC-A2C0-887C073E5D50}"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685800" y="1143000"/>
            <a:ext cx="5486040" cy="3085920"/>
          </a:xfrm>
          <a:prstGeom prst="rect">
            <a:avLst/>
          </a:prstGeom>
          <a:ln w="0">
            <a:noFill/>
          </a:ln>
        </p:spPr>
      </p:sp>
      <p:sp>
        <p:nvSpPr>
          <p:cNvPr id="1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Security was an important consideration in our design because DriverPass will be handling customer information, account details, and appointment records.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Each user will have their own account, with access limited to the information and functions they need. For example, customers will manage their own appointments, while the IT administrator will have additional tools for managing employee accounts and restricting access when necessary. Connections to the system will be encrypted, and passwords will be stored securely rather than as readable text.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system will also keep a history of reservation changes, including who created, modified, or canceled an appointment. This gives DriverPass a way to review what happened if there's ever a scheduling dispute or mistake.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Cloud-hosted backups will help protect business records against data loss. Customer payment information will also need appropriate safeguards, including not retaining card security codes after authorization.</a:t>
            </a:r>
            <a:endParaRPr lang="en-US" sz="2000" b="0" u="none" strike="noStrike">
              <a:solidFill>
                <a:srgbClr val="000000"/>
              </a:solidFill>
              <a:effectLst/>
              <a:uFillTx/>
              <a:latin typeface="Arial"/>
            </a:endParaRPr>
          </a:p>
        </p:txBody>
      </p:sp>
      <p:sp>
        <p:nvSpPr>
          <p:cNvPr id="127"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784EDE-CCF9-4A8C-A57D-BFDD7395471D}"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685800" y="1143000"/>
            <a:ext cx="5486040" cy="3085920"/>
          </a:xfrm>
          <a:prstGeom prst="rect">
            <a:avLst/>
          </a:prstGeom>
          <a:ln w="0">
            <a:noFill/>
          </a:ln>
        </p:spPr>
      </p:sp>
      <p:sp>
        <p:nvSpPr>
          <p:cNvPr id="1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n-US" sz="2000" b="0" u="none" strike="noStrike">
                <a:solidFill>
                  <a:srgbClr val="000000"/>
                </a:solidFill>
                <a:effectLst/>
                <a:uFillTx/>
                <a:latin typeface="Arial"/>
              </a:rPr>
              <a:t>Although the proposed system addresses DriverPass's current business needs, there are a few limitations worth considering.</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The first is that customers and employees will need an internet connection to access and update live information. Allowing appointments to be changed offline could create conflicting reservations, so the system will only accept changes while connected. Authorized users will still be able to download reports for offline review.</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The initial system will also support the three training packages DriverPass has already established. The owner can disable an existing package, but adding new types of training or changing the components of a package would require development work.</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Another limitation is that keeping training materials current depends on the DMV making updated information available electronically. The exact method for receiving those updates will need to be confirmed.</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Finally, the initial configuration is based on DriverPass's current fleet of ten vehicles and their associated instructors. The design provides a foundation for future changes, but additional requirements would need to be evaluated as the business grows.</a:t>
            </a:r>
            <a:endParaRPr lang="en-US" sz="2000" b="0" u="none" strike="noStrike">
              <a:solidFill>
                <a:srgbClr val="000000"/>
              </a:solidFill>
              <a:effectLst/>
              <a:uFillTx/>
              <a:latin typeface="Arial"/>
            </a:endParaRPr>
          </a:p>
        </p:txBody>
      </p:sp>
      <p:sp>
        <p:nvSpPr>
          <p:cNvPr id="130"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7422AA-61F8-40AA-8CA3-237622E4FBB9}"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defTabSz="914400">
              <a:lnSpc>
                <a:spcPct val="90000"/>
              </a:lnSpc>
              <a:buNone/>
            </a:pPr>
            <a:endParaRPr lang="en-US" sz="4400" b="0" u="none" strike="noStrike">
              <a:solidFill>
                <a:schemeClr val="dk1"/>
              </a:solidFill>
              <a:effectLst/>
              <a:uFillTx/>
              <a:latin typeface="Calibri Light"/>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4B6F057-82E5-48E4-ACC9-9D47871AC81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defTabSz="914400">
              <a:lnSpc>
                <a:spcPct val="90000"/>
              </a:lnSpc>
              <a:buNone/>
            </a:pPr>
            <a:endParaRPr lang="en-US" sz="4400" b="0" u="none" strike="noStrike">
              <a:solidFill>
                <a:schemeClr val="dk1"/>
              </a:solidFill>
              <a:effectLst/>
              <a:uFillTx/>
              <a:latin typeface="Calibri Light"/>
            </a:endParaRPr>
          </a:p>
        </p:txBody>
      </p:sp>
      <p:sp>
        <p:nvSpPr>
          <p:cNvPr id="10" name="PlaceHolder 2"/>
          <p:cNvSpPr>
            <a:spLocks noGrp="1"/>
          </p:cNvSpPr>
          <p:nvPr>
            <p:ph type="subTitle"/>
          </p:nvPr>
        </p:nvSpPr>
        <p:spPr>
          <a:xfrm>
            <a:off x="838080" y="1825560"/>
            <a:ext cx="10515240" cy="435096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4AFB9F0-C4F0-464C-8A31-7DF807E6832F}"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defTabSz="914400">
              <a:lnSpc>
                <a:spcPct val="90000"/>
              </a:lnSpc>
              <a:buNone/>
            </a:pPr>
            <a:endParaRPr lang="en-US" sz="4400" b="0" u="none" strike="noStrike">
              <a:solidFill>
                <a:schemeClr val="dk1"/>
              </a:solidFill>
              <a:effectLst/>
              <a:uFillTx/>
              <a:latin typeface="Calibri Light"/>
            </a:endParaRPr>
          </a:p>
        </p:txBody>
      </p:sp>
      <p:sp>
        <p:nvSpPr>
          <p:cNvPr id="17"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69E51C3-62E5-4EC4-AD94-FD1B05B6F4B3}"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defTabSz="914400">
              <a:lnSpc>
                <a:spcPct val="90000"/>
              </a:lnSpc>
              <a:buNone/>
            </a:pPr>
            <a:endParaRPr lang="en-US" sz="4400" b="0" u="none" strike="noStrike">
              <a:solidFill>
                <a:schemeClr val="dk1"/>
              </a:solidFill>
              <a:effectLst/>
              <a:uFillTx/>
              <a:latin typeface="Calibri Light"/>
            </a:endParaRPr>
          </a:p>
        </p:txBody>
      </p:sp>
      <p:sp>
        <p:nvSpPr>
          <p:cNvPr id="24"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E78ACBD6-2D51-41E8-868D-30B226E1A38F}"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defTabSz="914400">
              <a:lnSpc>
                <a:spcPct val="90000"/>
              </a:lnSpc>
              <a:buNone/>
            </a:pPr>
            <a:endParaRPr lang="en-US" sz="4400" b="0" u="none" strike="noStrike">
              <a:solidFill>
                <a:schemeClr val="dk1"/>
              </a:solidFill>
              <a:effectLst/>
              <a:uFillTx/>
              <a:latin typeface="Calibri Light"/>
            </a:endParaRPr>
          </a:p>
        </p:txBody>
      </p:sp>
      <p:sp>
        <p:nvSpPr>
          <p:cNvPr id="31"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4F43540-5136-40A5-B566-8B189D87AB75}" type="slidenum">
              <a:t>&lt;#&gt;</a:t>
            </a:fld>
          </a:p>
        </p:txBody>
      </p:sp>
      <p:sp>
        <p:nvSpPr>
          <p:cNvPr id="6" name="PlaceHolder 5"/>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a:defRPr>
            </a:lvl1p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1EDBEE3-E26E-4CDA-BCC2-E3E6C7916B3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2"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3"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0810459-7475-4C6D-8282-BB0DB8F3F9D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t" anchorCtr="1" vert="eaVert">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9"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0"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F29B764-66A4-4374-9228-1C478ADAF57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26"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7"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8"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7D0DCEE-D039-4656-9A94-5653A94006F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a:defRPr>
            </a:lvl1pPr>
          </a:lstStyle>
          <a:p>
            <a:pPr indent="0" algn="l"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3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3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BF1E361-3F5F-45D5-887B-85F2ED5200F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FCC77CE-0F47-42CE-89D3-E51DFC43EA0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4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algn="l" defTabSz="914400">
              <a:lnSpc>
                <a:spcPct val="90000"/>
              </a:lnSpc>
              <a:spcBef>
                <a:spcPts val="1001"/>
              </a:spcBef>
              <a:buClr>
                <a:srgbClr val="000000"/>
              </a:buClr>
              <a:buFont typeface="Arial"/>
              <a:buChar char="•"/>
              <a:tabLst>
                <a:tab pos="0" algn="l"/>
              </a:tabLst>
              <a:defRPr lang="en-US" sz="2400" b="1" u="none" strike="noStrike">
                <a:solidFill>
                  <a:schemeClr val="dk1"/>
                </a:solidFill>
                <a:effectLst/>
                <a:uFillTx/>
                <a:latin typeface="Calibri"/>
              </a:defRPr>
            </a:lvl1pPr>
          </a:lstStyle>
          <a:p>
            <a:pPr marL="228600" indent="-228600" algn="l" defTabSz="914400">
              <a:lnSpc>
                <a:spcPct val="90000"/>
              </a:lnSpc>
              <a:spcBef>
                <a:spcPts val="1001"/>
              </a:spcBef>
              <a:buClr>
                <a:srgbClr val="000000"/>
              </a:buClr>
              <a:buFont typeface="Arial"/>
              <a:buChar char="•"/>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4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4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9127940-6BF1-4094-95EA-8A23AB00212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5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5538801-92B8-4AF9-89D6-88378DF9439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8BE5266-1CA6-4BF5-9C5F-B77AD19A4F2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5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indent="0" algn="l" defTabSz="914400">
              <a:lnSpc>
                <a:spcPct val="90000"/>
              </a:lnSpc>
              <a:spcBef>
                <a:spcPts val="1001"/>
              </a:spcBef>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5pPr>
          </a:lstStyle>
          <a:p>
            <a:pPr indent="0" algn="l" defTabSz="914400">
              <a:lnSpc>
                <a:spcPct val="90000"/>
              </a:lnSpc>
              <a:spcBef>
                <a:spcPts val="1001"/>
              </a:spcBef>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6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6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4F8E500-FB29-4063-BC9C-268B3922C9C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6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tabLst>
                <a:tab pos="0" algn="l"/>
              </a:tabLst>
              <a:defRPr lang="en-US" sz="3200" b="0" u="none" strike="noStrike">
                <a:solidFill>
                  <a:schemeClr val="dk1"/>
                </a:solidFill>
                <a:effectLst/>
                <a:uFillTx/>
                <a:latin typeface="Calibri"/>
              </a:defRPr>
            </a:lvl1pPr>
          </a:lstStyle>
          <a:p>
            <a:pPr indent="0" algn="l" defTabSz="914400">
              <a:lnSpc>
                <a:spcPct val="100000"/>
              </a:lnSpc>
              <a:tabLst>
                <a:tab pos="0" algn="l"/>
              </a:tabLst>
            </a:pPr>
            <a:r>
              <a:rPr lang="en-US" sz="3200" b="0" u="none" strike="noStrike">
                <a:solidFill>
                  <a:schemeClr val="dk1"/>
                </a:solidFill>
                <a:effectLst/>
                <a:uFillTx/>
                <a:latin typeface="Calibri"/>
              </a:rPr>
              <a:t>Click icon to add picture</a:t>
            </a:r>
            <a:endParaRPr lang="en-US" sz="3200" b="0" u="none" strike="noStrike">
              <a:solidFill>
                <a:schemeClr val="dk1"/>
              </a:solidFill>
              <a:effectLst/>
              <a:uFillTx/>
              <a:latin typeface="Calibri"/>
            </a:endParaRPr>
          </a:p>
        </p:txBody>
      </p:sp>
      <p:sp>
        <p:nvSpPr>
          <p:cNvPr id="6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6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1171867-33C8-4107-A766-467F732012B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5.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5.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Rectangle 8">
            <a:extLst>
              <a:ext uri="{C183D7F6-B498-43B3-948B-1728B52AA6E4}">
                <adec:decorative xmlns:adec="http://schemas.microsoft.com/office/drawing/2017/decorative" val="1"/>
              </a:ext>
            </a:extLst>
          </p:cNvPr>
          <p:cNvSpPr/>
          <p:nvPr/>
        </p:nvSpPr>
        <p:spPr>
          <a:xfrm>
            <a:off x="475560" y="0"/>
            <a:ext cx="1090980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77" name="Picture 10">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78" name="PlaceHolder 1"/>
          <p:cNvSpPr>
            <a:spLocks noGrp="1"/>
          </p:cNvSpPr>
          <p:nvPr>
            <p:ph type="title"/>
          </p:nvPr>
        </p:nvSpPr>
        <p:spPr>
          <a:xfrm>
            <a:off x="3045240" y="2043720"/>
            <a:ext cx="6104880" cy="2030760"/>
          </a:xfrm>
          <a:prstGeom prst="rect">
            <a:avLst/>
          </a:prstGeom>
          <a:noFill/>
          <a:ln w="0">
            <a:noFill/>
          </a:ln>
        </p:spPr>
        <p:txBody>
          <a:bodyPr lIns="91440" tIns="45720" rIns="91440" bIns="45720" anchor="b">
            <a:normAutofit/>
          </a:bodyPr>
          <a:p>
            <a:pPr indent="0" algn="ctr" defTabSz="914400">
              <a:lnSpc>
                <a:spcPct val="90000"/>
              </a:lnSpc>
              <a:buNone/>
            </a:pPr>
            <a:r>
              <a:rPr lang="en-US" sz="6000" b="0" u="none" strike="noStrike">
                <a:solidFill>
                  <a:schemeClr val="dk1"/>
                </a:solidFill>
                <a:effectLst/>
                <a:uFillTx/>
                <a:latin typeface="Calibri Light"/>
              </a:rPr>
              <a:t>DriverPass</a:t>
            </a:r>
            <a:br>
              <a:rPr sz="6000"/>
            </a:br>
            <a:r>
              <a:rPr lang="en-US" sz="6000" b="0" u="none" strike="noStrike">
                <a:solidFill>
                  <a:schemeClr val="dk1"/>
                </a:solidFill>
                <a:effectLst/>
                <a:uFillTx/>
                <a:latin typeface="Calibri Light"/>
              </a:rPr>
              <a:t>System Analysis</a:t>
            </a:r>
            <a:endParaRPr lang="en-US" sz="6000" b="0" u="none" strike="noStrike">
              <a:solidFill>
                <a:schemeClr val="dk1"/>
              </a:solidFill>
              <a:effectLst/>
              <a:uFillTx/>
              <a:latin typeface="Calibri Light"/>
            </a:endParaRPr>
          </a:p>
        </p:txBody>
      </p:sp>
      <p:sp>
        <p:nvSpPr>
          <p:cNvPr id="79" name="PlaceHolder 2"/>
          <p:cNvSpPr>
            <a:spLocks noGrp="1"/>
          </p:cNvSpPr>
          <p:nvPr>
            <p:ph type="subTitle"/>
          </p:nvPr>
        </p:nvSpPr>
        <p:spPr>
          <a:xfrm>
            <a:off x="3045240" y="4074840"/>
            <a:ext cx="6104880" cy="681840"/>
          </a:xfrm>
          <a:prstGeom prst="rect">
            <a:avLst/>
          </a:prstGeom>
          <a:noFill/>
          <a:ln w="0">
            <a:noFill/>
          </a:ln>
        </p:spPr>
        <p:txBody>
          <a:bodyPr lIns="91440" tIns="45720" rIns="91440" bIns="45720" anchor="t">
            <a:normAutofit/>
          </a:bodyPr>
          <a:p>
            <a:pPr indent="0" algn="ctr" defTabSz="914400">
              <a:lnSpc>
                <a:spcPct val="90000"/>
              </a:lnSpc>
              <a:spcBef>
                <a:spcPts val="1001"/>
              </a:spcBef>
              <a:buNone/>
              <a:tabLst>
                <a:tab pos="0" algn="l"/>
              </a:tabLst>
            </a:pPr>
            <a:r>
              <a:rPr lang="en-US" sz="2400" b="0" u="none" strike="noStrike">
                <a:solidFill>
                  <a:schemeClr val="dk1"/>
                </a:solidFill>
                <a:effectLst/>
                <a:uFillTx/>
                <a:latin typeface="Calibri"/>
              </a:rPr>
              <a:t>Blake Merry</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80" name="Rectangle 8">
            <a:extLst>
              <a:ext uri="{C183D7F6-B498-43B3-948B-1728B52AA6E4}">
                <adec:decorative xmlns:adec="http://schemas.microsoft.com/office/drawing/2017/decorative" val="1"/>
              </a:ext>
            </a:extLst>
          </p:cNvPr>
          <p:cNvSpPr/>
          <p:nvPr/>
        </p:nvSpPr>
        <p:spPr>
          <a:xfrm>
            <a:off x="0" y="0"/>
            <a:ext cx="6081840" cy="6857640"/>
          </a:xfrm>
          <a:prstGeom prst="rect">
            <a:avLst/>
          </a:prstGeom>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Rectangle 10">
            <a:extLst>
              <a:ext uri="{C183D7F6-B498-43B3-948B-1728B52AA6E4}">
                <adec:decorative xmlns:adec="http://schemas.microsoft.com/office/drawing/2017/decorative" val="1"/>
              </a:ext>
            </a:extLst>
          </p:cNvPr>
          <p:cNvSpPr/>
          <p:nvPr/>
        </p:nvSpPr>
        <p:spPr>
          <a:xfrm>
            <a:off x="0" y="0"/>
            <a:ext cx="1219176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82" name="Picture 12">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83" name="PlaceHolder 1"/>
          <p:cNvSpPr>
            <a:spLocks noGrp="1"/>
          </p:cNvSpPr>
          <p:nvPr>
            <p:ph type="title"/>
          </p:nvPr>
        </p:nvSpPr>
        <p:spPr>
          <a:xfrm>
            <a:off x="640080" y="2053800"/>
            <a:ext cx="3931920" cy="2759760"/>
          </a:xfrm>
          <a:prstGeom prst="rect">
            <a:avLst/>
          </a:prstGeom>
          <a:noFill/>
          <a:ln w="0">
            <a:noFill/>
          </a:ln>
        </p:spPr>
        <p:txBody>
          <a:bodyPr lIns="91440" tIns="45720" rIns="91440" bIns="45720" anchor="ctr">
            <a:normAutofit/>
          </a:bodyPr>
          <a:p>
            <a:pPr indent="0" algn="l" defTabSz="914400">
              <a:lnSpc>
                <a:spcPct val="90000"/>
              </a:lnSpc>
              <a:buNone/>
            </a:pPr>
            <a:r>
              <a:rPr lang="en-US" sz="4400" b="0" u="none" strike="noStrike">
                <a:solidFill>
                  <a:schemeClr val="lt1"/>
                </a:solidFill>
                <a:effectLst/>
                <a:uFillTx/>
                <a:latin typeface="Calibri Light"/>
              </a:rPr>
              <a:t>System Requirements</a:t>
            </a:r>
            <a:endParaRPr lang="en-US" sz="4400" b="0" u="none" strike="noStrike">
              <a:solidFill>
                <a:schemeClr val="dk1"/>
              </a:solidFill>
              <a:effectLst/>
              <a:uFillTx/>
              <a:latin typeface="Calibri Light"/>
            </a:endParaRPr>
          </a:p>
        </p:txBody>
      </p:sp>
      <p:sp>
        <p:nvSpPr>
          <p:cNvPr id="84" name="PlaceHolder 2"/>
          <p:cNvSpPr>
            <a:spLocks noGrp="1"/>
          </p:cNvSpPr>
          <p:nvPr>
            <p:ph/>
          </p:nvPr>
        </p:nvSpPr>
        <p:spPr>
          <a:xfrm>
            <a:off x="6090480" y="801720"/>
            <a:ext cx="5305680" cy="5230440"/>
          </a:xfrm>
          <a:prstGeom prst="rect">
            <a:avLst/>
          </a:prstGeom>
          <a:noFill/>
          <a:ln w="0">
            <a:noFill/>
          </a:ln>
        </p:spPr>
        <p:txBody>
          <a:bodyPr lIns="91440" tIns="45720" rIns="91440" bIns="45720" anchor="ctr">
            <a:normAutofit/>
          </a:bodyPr>
          <a:p>
            <a:pPr marL="228600" indent="0" algn="l" defTabSz="914400">
              <a:lnSpc>
                <a:spcPct val="90000"/>
              </a:lnSpc>
              <a:spcBef>
                <a:spcPts val="1001"/>
              </a:spcBef>
              <a:buNone/>
            </a:pPr>
            <a:r>
              <a:rPr lang="en-US" sz="2400" b="1" u="none" strike="noStrike">
                <a:solidFill>
                  <a:schemeClr val="dk1"/>
                </a:solidFill>
                <a:effectLst/>
                <a:uFillTx/>
                <a:latin typeface="Calibri"/>
              </a:rPr>
              <a:t>Functional Requirements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Schedule, modify, and cancel two-hour driving appointments.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Provide training materials, practice exams, and progress tracking based on the customer's selected package.</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Manage customer records, training packages, and business reports.</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85" name="Rectangle 2">
            <a:extLst>
              <a:ext uri="{C183D7F6-B498-43B3-948B-1728B52AA6E4}">
                <adec:decorative xmlns:adec="http://schemas.microsoft.com/office/drawing/2017/decorative" val="1"/>
              </a:ext>
            </a:extLst>
          </p:cNvPr>
          <p:cNvSpPr/>
          <p:nvPr/>
        </p:nvSpPr>
        <p:spPr>
          <a:xfrm>
            <a:off x="0" y="0"/>
            <a:ext cx="6081840" cy="6857640"/>
          </a:xfrm>
          <a:prstGeom prst="rect">
            <a:avLst/>
          </a:prstGeom>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 name="Rectangle 3">
            <a:extLst>
              <a:ext uri="{C183D7F6-B498-43B3-948B-1728B52AA6E4}">
                <adec:decorative xmlns:adec="http://schemas.microsoft.com/office/drawing/2017/decorative" val="1"/>
              </a:ext>
            </a:extLst>
          </p:cNvPr>
          <p:cNvSpPr/>
          <p:nvPr/>
        </p:nvSpPr>
        <p:spPr>
          <a:xfrm>
            <a:off x="0" y="0"/>
            <a:ext cx="1219176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87" name="Picture 2">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88" name="PlaceHolder 1"/>
          <p:cNvSpPr>
            <a:spLocks noGrp="1"/>
          </p:cNvSpPr>
          <p:nvPr>
            <p:ph type="title"/>
          </p:nvPr>
        </p:nvSpPr>
        <p:spPr>
          <a:xfrm>
            <a:off x="640080" y="2053800"/>
            <a:ext cx="3931920" cy="2759760"/>
          </a:xfrm>
          <a:prstGeom prst="rect">
            <a:avLst/>
          </a:prstGeom>
          <a:noFill/>
          <a:ln w="0">
            <a:noFill/>
          </a:ln>
        </p:spPr>
        <p:txBody>
          <a:bodyPr lIns="91440" tIns="45720" rIns="91440" bIns="45720" anchor="ctr">
            <a:normAutofit/>
          </a:bodyPr>
          <a:p>
            <a:pPr indent="0" algn="l" defTabSz="914400">
              <a:lnSpc>
                <a:spcPct val="90000"/>
              </a:lnSpc>
              <a:buNone/>
            </a:pPr>
            <a:r>
              <a:rPr lang="en-US" sz="4400" b="0" u="none" strike="noStrike">
                <a:solidFill>
                  <a:schemeClr val="lt1"/>
                </a:solidFill>
                <a:effectLst/>
                <a:uFillTx/>
                <a:latin typeface="Calibri Light"/>
              </a:rPr>
              <a:t>System Requirements</a:t>
            </a:r>
            <a:endParaRPr lang="en-US" sz="4400" b="0" u="none" strike="noStrike">
              <a:solidFill>
                <a:schemeClr val="dk1"/>
              </a:solidFill>
              <a:effectLst/>
              <a:uFillTx/>
              <a:latin typeface="Calibri Light"/>
            </a:endParaRPr>
          </a:p>
        </p:txBody>
      </p:sp>
      <p:sp>
        <p:nvSpPr>
          <p:cNvPr id="89" name="PlaceHolder 2"/>
          <p:cNvSpPr>
            <a:spLocks noGrp="1"/>
          </p:cNvSpPr>
          <p:nvPr>
            <p:ph/>
          </p:nvPr>
        </p:nvSpPr>
        <p:spPr>
          <a:xfrm>
            <a:off x="6090480" y="801720"/>
            <a:ext cx="5305680" cy="5230440"/>
          </a:xfrm>
          <a:prstGeom prst="rect">
            <a:avLst/>
          </a:prstGeom>
          <a:noFill/>
          <a:ln w="0">
            <a:noFill/>
          </a:ln>
        </p:spPr>
        <p:txBody>
          <a:bodyPr lIns="91440" tIns="45720" rIns="91440" bIns="45720" anchor="ctr">
            <a:normAutofit/>
          </a:bodyPr>
          <a:p>
            <a:pPr marL="228600" indent="0" algn="l" defTabSz="914400">
              <a:lnSpc>
                <a:spcPct val="90000"/>
              </a:lnSpc>
              <a:spcBef>
                <a:spcPts val="1001"/>
              </a:spcBef>
              <a:buNone/>
            </a:pPr>
            <a:r>
              <a:rPr lang="en-US" sz="2400" b="1" u="none" strike="noStrike">
                <a:solidFill>
                  <a:schemeClr val="dk1"/>
                </a:solidFill>
                <a:effectLst/>
                <a:uFillTx/>
                <a:latin typeface="Calibri"/>
              </a:rPr>
              <a:t>Nonfunctional Requirements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Accessible through web browsers on computers and mobile devices.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Secure user accounts with permissions based on individual responsibilities.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Reliable cloud hosting with centralized data storage and backups.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Internet connection required for updating records, with reports available for offline review.</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90" name="Rectangle 8">
            <a:extLst>
              <a:ext uri="{C183D7F6-B498-43B3-948B-1728B52AA6E4}">
                <adec:decorative xmlns:adec="http://schemas.microsoft.com/office/drawing/2017/decorative" val="1"/>
              </a:ext>
            </a:extLst>
          </p:cNvPr>
          <p:cNvSpPr/>
          <p:nvPr/>
        </p:nvSpPr>
        <p:spPr>
          <a:xfrm>
            <a:off x="0" y="0"/>
            <a:ext cx="6081840" cy="6857640"/>
          </a:xfrm>
          <a:prstGeom prst="rect">
            <a:avLst/>
          </a:prstGeom>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Rectangle 10">
            <a:extLst>
              <a:ext uri="{C183D7F6-B498-43B3-948B-1728B52AA6E4}">
                <adec:decorative xmlns:adec="http://schemas.microsoft.com/office/drawing/2017/decorative" val="1"/>
              </a:ext>
            </a:extLst>
          </p:cNvPr>
          <p:cNvSpPr/>
          <p:nvPr/>
        </p:nvSpPr>
        <p:spPr>
          <a:xfrm>
            <a:off x="0" y="0"/>
            <a:ext cx="1219176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92" name="Picture 12">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93" name="PlaceHolder 1"/>
          <p:cNvSpPr>
            <a:spLocks noGrp="1"/>
          </p:cNvSpPr>
          <p:nvPr>
            <p:ph type="title"/>
          </p:nvPr>
        </p:nvSpPr>
        <p:spPr>
          <a:xfrm>
            <a:off x="640080" y="2053800"/>
            <a:ext cx="3668760" cy="2759760"/>
          </a:xfrm>
          <a:prstGeom prst="rect">
            <a:avLst/>
          </a:prstGeom>
          <a:noFill/>
          <a:ln w="0">
            <a:noFill/>
          </a:ln>
        </p:spPr>
        <p:txBody>
          <a:bodyPr lIns="91440" tIns="45720" rIns="91440" bIns="45720" anchor="ctr">
            <a:normAutofit/>
          </a:bodyPr>
          <a:p>
            <a:pPr indent="0" algn="l" defTabSz="914400">
              <a:lnSpc>
                <a:spcPct val="90000"/>
              </a:lnSpc>
              <a:buNone/>
            </a:pPr>
            <a:r>
              <a:rPr lang="en-US" sz="4400" b="0" u="none" strike="noStrike">
                <a:solidFill>
                  <a:schemeClr val="lt1"/>
                </a:solidFill>
                <a:effectLst/>
                <a:uFillTx/>
                <a:latin typeface="Calibri Light"/>
              </a:rPr>
              <a:t>Use Case Diagram</a:t>
            </a:r>
            <a:endParaRPr lang="en-US" sz="4400" b="0" u="none" strike="noStrike">
              <a:solidFill>
                <a:schemeClr val="dk1"/>
              </a:solidFill>
              <a:effectLst/>
              <a:uFillTx/>
              <a:latin typeface="Calibri Light"/>
            </a:endParaRPr>
          </a:p>
        </p:txBody>
      </p:sp>
      <p:pic>
        <p:nvPicPr>
          <p:cNvPr id="94" name=""/>
          <p:cNvPicPr/>
          <p:nvPr/>
        </p:nvPicPr>
        <p:blipFill>
          <a:blip r:embed="rId2"/>
          <a:stretch/>
        </p:blipFill>
        <p:spPr>
          <a:xfrm>
            <a:off x="5563800" y="1316880"/>
            <a:ext cx="6400800" cy="43981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95" name="Rectangle 8">
            <a:extLst>
              <a:ext uri="{C183D7F6-B498-43B3-948B-1728B52AA6E4}">
                <adec:decorative xmlns:adec="http://schemas.microsoft.com/office/drawing/2017/decorative" val="1"/>
              </a:ext>
            </a:extLst>
          </p:cNvPr>
          <p:cNvSpPr/>
          <p:nvPr/>
        </p:nvSpPr>
        <p:spPr>
          <a:xfrm>
            <a:off x="0" y="0"/>
            <a:ext cx="6081840" cy="6857640"/>
          </a:xfrm>
          <a:prstGeom prst="rect">
            <a:avLst/>
          </a:prstGeom>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 name="Rectangle 10">
            <a:extLst>
              <a:ext uri="{C183D7F6-B498-43B3-948B-1728B52AA6E4}">
                <adec:decorative xmlns:adec="http://schemas.microsoft.com/office/drawing/2017/decorative" val="1"/>
              </a:ext>
            </a:extLst>
          </p:cNvPr>
          <p:cNvSpPr/>
          <p:nvPr/>
        </p:nvSpPr>
        <p:spPr>
          <a:xfrm>
            <a:off x="0" y="0"/>
            <a:ext cx="1219176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97" name="Picture 12">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98" name="PlaceHolder 1"/>
          <p:cNvSpPr>
            <a:spLocks noGrp="1"/>
          </p:cNvSpPr>
          <p:nvPr>
            <p:ph type="title"/>
          </p:nvPr>
        </p:nvSpPr>
        <p:spPr>
          <a:xfrm>
            <a:off x="640080" y="2053800"/>
            <a:ext cx="3668760" cy="2759760"/>
          </a:xfrm>
          <a:prstGeom prst="rect">
            <a:avLst/>
          </a:prstGeom>
          <a:noFill/>
          <a:ln w="0">
            <a:noFill/>
          </a:ln>
        </p:spPr>
        <p:txBody>
          <a:bodyPr lIns="91440" tIns="45720" rIns="91440" bIns="45720" anchor="ctr">
            <a:normAutofit/>
          </a:bodyPr>
          <a:p>
            <a:pPr indent="0" algn="l" defTabSz="914400">
              <a:lnSpc>
                <a:spcPct val="90000"/>
              </a:lnSpc>
              <a:buNone/>
            </a:pPr>
            <a:r>
              <a:rPr lang="en-US" sz="4400" b="0" u="none" strike="noStrike">
                <a:solidFill>
                  <a:schemeClr val="lt1"/>
                </a:solidFill>
                <a:effectLst/>
                <a:uFillTx/>
                <a:latin typeface="Calibri Light"/>
              </a:rPr>
              <a:t>Activity</a:t>
            </a:r>
            <a:br>
              <a:rPr sz="4400"/>
            </a:br>
            <a:r>
              <a:rPr lang="en-US" sz="4400" b="0" u="none" strike="noStrike">
                <a:solidFill>
                  <a:schemeClr val="lt1"/>
                </a:solidFill>
                <a:effectLst/>
                <a:uFillTx/>
                <a:latin typeface="Calibri Light"/>
              </a:rPr>
              <a:t>Diagram</a:t>
            </a:r>
            <a:endParaRPr lang="en-US" sz="4400" b="0" u="none" strike="noStrike">
              <a:solidFill>
                <a:schemeClr val="dk1"/>
              </a:solidFill>
              <a:effectLst/>
              <a:uFillTx/>
              <a:latin typeface="Calibri Light"/>
            </a:endParaRPr>
          </a:p>
        </p:txBody>
      </p:sp>
      <p:pic>
        <p:nvPicPr>
          <p:cNvPr id="99" name=""/>
          <p:cNvPicPr/>
          <p:nvPr/>
        </p:nvPicPr>
        <p:blipFill>
          <a:blip r:embed="rId2"/>
          <a:stretch/>
        </p:blipFill>
        <p:spPr>
          <a:xfrm>
            <a:off x="7488360" y="0"/>
            <a:ext cx="257004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100" name="Rectangle 8">
            <a:extLst>
              <a:ext uri="{C183D7F6-B498-43B3-948B-1728B52AA6E4}">
                <adec:decorative xmlns:adec="http://schemas.microsoft.com/office/drawing/2017/decorative" val="1"/>
              </a:ext>
            </a:extLst>
          </p:cNvPr>
          <p:cNvSpPr/>
          <p:nvPr/>
        </p:nvSpPr>
        <p:spPr>
          <a:xfrm>
            <a:off x="0" y="0"/>
            <a:ext cx="6081840" cy="6857640"/>
          </a:xfrm>
          <a:prstGeom prst="rect">
            <a:avLst/>
          </a:prstGeom>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 name="Rectangle 10">
            <a:extLst>
              <a:ext uri="{C183D7F6-B498-43B3-948B-1728B52AA6E4}">
                <adec:decorative xmlns:adec="http://schemas.microsoft.com/office/drawing/2017/decorative" val="1"/>
              </a:ext>
            </a:extLst>
          </p:cNvPr>
          <p:cNvSpPr/>
          <p:nvPr/>
        </p:nvSpPr>
        <p:spPr>
          <a:xfrm>
            <a:off x="0" y="0"/>
            <a:ext cx="1219176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102" name="Picture 12">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103" name="PlaceHolder 1"/>
          <p:cNvSpPr>
            <a:spLocks noGrp="1"/>
          </p:cNvSpPr>
          <p:nvPr>
            <p:ph type="title"/>
          </p:nvPr>
        </p:nvSpPr>
        <p:spPr>
          <a:xfrm>
            <a:off x="640080" y="2053800"/>
            <a:ext cx="3668760" cy="2759760"/>
          </a:xfrm>
          <a:prstGeom prst="rect">
            <a:avLst/>
          </a:prstGeom>
          <a:noFill/>
          <a:ln w="0">
            <a:noFill/>
          </a:ln>
        </p:spPr>
        <p:txBody>
          <a:bodyPr lIns="91440" tIns="45720" rIns="91440" bIns="45720" anchor="ctr">
            <a:normAutofit/>
          </a:bodyPr>
          <a:p>
            <a:pPr indent="0" algn="l" defTabSz="914400">
              <a:lnSpc>
                <a:spcPct val="90000"/>
              </a:lnSpc>
              <a:buNone/>
            </a:pPr>
            <a:r>
              <a:rPr lang="en-US" sz="4400" b="0" u="none" strike="noStrike">
                <a:solidFill>
                  <a:schemeClr val="lt1"/>
                </a:solidFill>
                <a:effectLst/>
                <a:uFillTx/>
                <a:latin typeface="Calibri Light"/>
              </a:rPr>
              <a:t>Security</a:t>
            </a:r>
            <a:endParaRPr lang="en-US" sz="4400" b="0" u="none" strike="noStrike">
              <a:solidFill>
                <a:schemeClr val="dk1"/>
              </a:solidFill>
              <a:effectLst/>
              <a:uFillTx/>
              <a:latin typeface="Calibri Light"/>
            </a:endParaRPr>
          </a:p>
        </p:txBody>
      </p:sp>
      <p:sp>
        <p:nvSpPr>
          <p:cNvPr id="104" name="PlaceHolder 2"/>
          <p:cNvSpPr>
            <a:spLocks noGrp="1"/>
          </p:cNvSpPr>
          <p:nvPr>
            <p:ph/>
          </p:nvPr>
        </p:nvSpPr>
        <p:spPr>
          <a:xfrm>
            <a:off x="6090480" y="801720"/>
            <a:ext cx="5305680" cy="5230440"/>
          </a:xfrm>
          <a:prstGeom prst="rect">
            <a:avLst/>
          </a:prstGeom>
          <a:noFill/>
          <a:ln w="0">
            <a:noFill/>
          </a:ln>
        </p:spPr>
        <p:txBody>
          <a:bodyPr lIns="91440" tIns="45720" rIns="91440" bIns="45720" anchor="ctr">
            <a:normAutofit/>
          </a:bodyPr>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Individual user accounts with access based on responsibilities.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Encrypted connections and protected customer information.</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Secure password storage and account recovery.</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Reservation activity tracking and administrative controls.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Cloud-hosted backups and secure handling of payment information.</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105" name="Rectangle 8">
            <a:extLst>
              <a:ext uri="{C183D7F6-B498-43B3-948B-1728B52AA6E4}">
                <adec:decorative xmlns:adec="http://schemas.microsoft.com/office/drawing/2017/decorative" val="1"/>
              </a:ext>
            </a:extLst>
          </p:cNvPr>
          <p:cNvSpPr/>
          <p:nvPr/>
        </p:nvSpPr>
        <p:spPr>
          <a:xfrm>
            <a:off x="0" y="0"/>
            <a:ext cx="6081840" cy="6857640"/>
          </a:xfrm>
          <a:prstGeom prst="rect">
            <a:avLst/>
          </a:prstGeom>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6" name="Rectangle 10">
            <a:extLst>
              <a:ext uri="{C183D7F6-B498-43B3-948B-1728B52AA6E4}">
                <adec:decorative xmlns:adec="http://schemas.microsoft.com/office/drawing/2017/decorative" val="1"/>
              </a:ext>
            </a:extLst>
          </p:cNvPr>
          <p:cNvSpPr/>
          <p:nvPr/>
        </p:nvSpPr>
        <p:spPr>
          <a:xfrm>
            <a:off x="0" y="0"/>
            <a:ext cx="12191760" cy="685764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107" name="Picture 12">
            <a:extLst>
              <a:ext uri="{C183D7F6-B498-43B3-948B-1728B52AA6E4}">
                <adec:decorative xmlns:adec="http://schemas.microsoft.com/office/drawing/2017/decorative" val="1"/>
              </a:ext>
            </a:extLst>
          </p:cNvPr>
          <p:cNvPicPr/>
          <p:nvPr/>
        </p:nvPicPr>
        <p:blipFill>
          <a:blip r:embed="rId1"/>
          <a:stretch/>
        </p:blipFill>
        <p:spPr>
          <a:xfrm>
            <a:off x="0" y="0"/>
            <a:ext cx="12191760" cy="6857640"/>
          </a:xfrm>
          <a:prstGeom prst="rect">
            <a:avLst/>
          </a:prstGeom>
          <a:noFill/>
          <a:ln w="0">
            <a:noFill/>
          </a:ln>
        </p:spPr>
      </p:pic>
      <p:sp>
        <p:nvSpPr>
          <p:cNvPr id="108" name="PlaceHolder 1"/>
          <p:cNvSpPr>
            <a:spLocks noGrp="1"/>
          </p:cNvSpPr>
          <p:nvPr>
            <p:ph type="title"/>
          </p:nvPr>
        </p:nvSpPr>
        <p:spPr>
          <a:xfrm>
            <a:off x="640080" y="2053800"/>
            <a:ext cx="3668760" cy="2759760"/>
          </a:xfrm>
          <a:prstGeom prst="rect">
            <a:avLst/>
          </a:prstGeom>
          <a:noFill/>
          <a:ln w="0">
            <a:noFill/>
          </a:ln>
        </p:spPr>
        <p:txBody>
          <a:bodyPr lIns="91440" tIns="45720" rIns="91440" bIns="45720" anchor="ctr">
            <a:normAutofit/>
          </a:bodyPr>
          <a:p>
            <a:pPr indent="0" algn="l" defTabSz="914400">
              <a:lnSpc>
                <a:spcPct val="90000"/>
              </a:lnSpc>
              <a:buNone/>
            </a:pPr>
            <a:r>
              <a:rPr lang="en-US" sz="4400" b="0" u="none" strike="noStrike">
                <a:solidFill>
                  <a:schemeClr val="lt1"/>
                </a:solidFill>
                <a:effectLst/>
                <a:uFillTx/>
                <a:latin typeface="Calibri Light"/>
              </a:rPr>
              <a:t>System Limitations</a:t>
            </a:r>
            <a:endParaRPr lang="en-US" sz="4400" b="0" u="none" strike="noStrike">
              <a:solidFill>
                <a:schemeClr val="dk1"/>
              </a:solidFill>
              <a:effectLst/>
              <a:uFillTx/>
              <a:latin typeface="Calibri Light"/>
            </a:endParaRPr>
          </a:p>
        </p:txBody>
      </p:sp>
      <p:sp>
        <p:nvSpPr>
          <p:cNvPr id="109" name="PlaceHolder 2"/>
          <p:cNvSpPr>
            <a:spLocks noGrp="1"/>
          </p:cNvSpPr>
          <p:nvPr>
            <p:ph/>
          </p:nvPr>
        </p:nvSpPr>
        <p:spPr>
          <a:xfrm>
            <a:off x="6090480" y="801720"/>
            <a:ext cx="5305680" cy="5230440"/>
          </a:xfrm>
          <a:prstGeom prst="rect">
            <a:avLst/>
          </a:prstGeom>
          <a:noFill/>
          <a:ln w="0">
            <a:noFill/>
          </a:ln>
        </p:spPr>
        <p:txBody>
          <a:bodyPr lIns="91440" tIns="45720" rIns="91440" bIns="45720" anchor="ctr">
            <a:normAutofit/>
          </a:bodyPr>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An internet connection is required to update system records.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The initial system supports three predefined training packages.</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Adding or removing package features requires developer assistance.</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DMV updates depend on the availability of external information.</a:t>
            </a:r>
            <a:endParaRPr lang="en-US" sz="24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Calibri"/>
              </a:rPr>
              <a:t>The initial configuration reflects DriverPass's 10 vehicles and assigned instructors.</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WebD281</Template>
  <TotalTime>1371</TotalTime>
  <Application>LibreOffice/26.2.6.3$Linux_X86_64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2019-10-14T02:36:52Z</dcterms:created>
  <dc:creator>Loay Alnaji</dc:creator>
  <dc:description/>
  <dc:language>en-US</dc:language>
  <cp:lastModifiedBy/>
  <dcterms:modified xsi:type="dcterms:W3CDTF">2026-10-17T23:59:33Z</dcterms:modified>
  <cp:revision>23</cp:revision>
  <dc:subject/>
  <dc:title>Systems Analysis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y fmtid="{D5CDD505-2E9C-101B-9397-08002B2CF9AE}" pid="4" name="Notes">
    <vt:r8>6</vt:r8>
  </property>
  <property fmtid="{D5CDD505-2E9C-101B-9397-08002B2CF9AE}" pid="5" name="PresentationFormat">
    <vt:lpwstr>Widescreen</vt:lpwstr>
  </property>
  <property fmtid="{D5CDD505-2E9C-101B-9397-08002B2CF9AE}" pid="6" name="Slides">
    <vt:r8>6</vt:r8>
  </property>
</Properties>
</file>